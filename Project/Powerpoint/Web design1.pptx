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0"/>
  </p:notesMasterIdLst>
  <p:handoutMasterIdLst>
    <p:handoutMasterId r:id="rId21"/>
  </p:handoutMasterIdLst>
  <p:sldIdLst>
    <p:sldId id="312" r:id="rId5"/>
    <p:sldId id="307" r:id="rId6"/>
    <p:sldId id="281" r:id="rId7"/>
    <p:sldId id="282" r:id="rId8"/>
    <p:sldId id="314" r:id="rId9"/>
    <p:sldId id="315" r:id="rId10"/>
    <p:sldId id="317" r:id="rId11"/>
    <p:sldId id="318" r:id="rId12"/>
    <p:sldId id="319" r:id="rId13"/>
    <p:sldId id="321" r:id="rId14"/>
    <p:sldId id="322" r:id="rId15"/>
    <p:sldId id="325" r:id="rId16"/>
    <p:sldId id="326" r:id="rId17"/>
    <p:sldId id="327" r:id="rId18"/>
    <p:sldId id="297" r:id="rId19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8D1DAA03-C7D8-4205-8200-CF0E6A6E5444}">
          <p14:sldIdLst>
            <p14:sldId id="312"/>
            <p14:sldId id="307"/>
            <p14:sldId id="281"/>
            <p14:sldId id="282"/>
            <p14:sldId id="314"/>
            <p14:sldId id="315"/>
            <p14:sldId id="317"/>
            <p14:sldId id="318"/>
            <p14:sldId id="319"/>
            <p14:sldId id="321"/>
            <p14:sldId id="322"/>
            <p14:sldId id="325"/>
            <p14:sldId id="326"/>
            <p14:sldId id="327"/>
            <p14:sldId id="297"/>
          </p14:sldIdLst>
        </p14:section>
      </p14:sectionLst>
    </p:ex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CFBF6"/>
    <a:srgbClr val="FDFBF6"/>
    <a:srgbClr val="AAC4E9"/>
    <a:srgbClr val="F5CDCE"/>
    <a:srgbClr val="DF8C8C"/>
    <a:srgbClr val="D4D593"/>
    <a:srgbClr val="E6F0FE"/>
    <a:srgbClr val="CDBE8A"/>
    <a:srgbClr val="F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0D1C4D-2165-C342-55FE-2C976DAEB1ED}" v="616" dt="2026-01-22T05:55:05.357"/>
  </p1510:revLst>
</p1510:revInfo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5" d="100"/>
          <a:sy n="75" d="100"/>
        </p:scale>
        <p:origin x="893" y="43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3:44:04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00363" y="1250097"/>
            <a:ext cx="6391275" cy="1169717"/>
          </a:xfrm>
        </p:spPr>
        <p:txBody>
          <a:bodyPr anchor="ctr"/>
          <a:lstStyle/>
          <a:p>
            <a:r>
              <a:rPr lang="en-US" b="0" dirty="0"/>
              <a:t>Web</a:t>
            </a:r>
            <a:r>
              <a:rPr lang="en-US" dirty="0"/>
              <a:t> design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E25444-DCF7-3780-DCFA-0816B56C8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4976"/>
            <a:ext cx="1169716" cy="11697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EC67B9-9BFC-C588-31D5-B438258CC081}"/>
              </a:ext>
            </a:extLst>
          </p:cNvPr>
          <p:cNvSpPr txBox="1"/>
          <p:nvPr/>
        </p:nvSpPr>
        <p:spPr>
          <a:xfrm>
            <a:off x="3055435" y="2029522"/>
            <a:ext cx="59993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>
                    <a:lumMod val="75000"/>
                  </a:schemeClr>
                </a:solidFill>
                <a:highlight>
                  <a:srgbClr val="FCFBF6"/>
                </a:highlight>
              </a:rPr>
              <a:t>Topic : </a:t>
            </a:r>
            <a:r>
              <a:rPr lang="en-US" sz="2800" dirty="0" err="1">
                <a:solidFill>
                  <a:schemeClr val="accent2">
                    <a:lumMod val="75000"/>
                  </a:schemeClr>
                </a:solidFill>
                <a:highlight>
                  <a:srgbClr val="FCFBF6"/>
                </a:highlight>
              </a:rPr>
              <a:t>Lunator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highlight>
                  <a:srgbClr val="FCFBF6"/>
                </a:highlight>
              </a:rPr>
              <a:t> Cosmetic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465D254-5C19-CF7E-6721-45FD1505E82F}"/>
                  </a:ext>
                </a:extLst>
              </p14:cNvPr>
              <p14:cNvContentPartPr/>
              <p14:nvPr/>
            </p14:nvContentPartPr>
            <p14:xfrm>
              <a:off x="5597868" y="365696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465D254-5C19-CF7E-6721-45FD1505E82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88868" y="3647968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CF38476A-374E-0F8B-164A-AF01AB7BDB1D}"/>
              </a:ext>
            </a:extLst>
          </p:cNvPr>
          <p:cNvSpPr/>
          <p:nvPr/>
        </p:nvSpPr>
        <p:spPr>
          <a:xfrm>
            <a:off x="4103829" y="2988527"/>
            <a:ext cx="3902567" cy="16342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/>
              <a:t>Member  : Nuth Nanmony</a:t>
            </a:r>
          </a:p>
          <a:p>
            <a:pPr algn="ctr"/>
            <a:r>
              <a:rPr lang="en-US" sz="2200" dirty="0"/>
              <a:t>	       Phorn </a:t>
            </a:r>
            <a:r>
              <a:rPr lang="en-US" sz="2200" dirty="0" err="1"/>
              <a:t>Sreytin</a:t>
            </a:r>
            <a:endParaRPr lang="en-US" sz="2200" dirty="0"/>
          </a:p>
          <a:p>
            <a:pPr algn="ctr"/>
            <a:r>
              <a:rPr lang="en-US" sz="2200" dirty="0"/>
              <a:t>		   Touch </a:t>
            </a:r>
            <a:r>
              <a:rPr lang="en-US" sz="2200" dirty="0" err="1"/>
              <a:t>Sreynoch</a:t>
            </a:r>
            <a:endParaRPr lang="en-US" sz="2200" dirty="0"/>
          </a:p>
          <a:p>
            <a:pPr algn="ctr"/>
            <a:r>
              <a:rPr lang="en-US" sz="2200" dirty="0"/>
              <a:t>		Pang </a:t>
            </a:r>
            <a:r>
              <a:rPr lang="en-US" sz="2200" dirty="0" err="1"/>
              <a:t>Henglay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321" y="1625265"/>
            <a:ext cx="5927679" cy="946813"/>
          </a:xfrm>
        </p:spPr>
        <p:txBody>
          <a:bodyPr/>
          <a:lstStyle/>
          <a:p>
            <a:r>
              <a:rPr lang="km-KH" sz="2000" dirty="0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ខ្លឹមសារ៖ បង្ហាញពីការកំណត់ </a:t>
            </a:r>
            <a:r>
              <a:rPr lang="en-US" sz="2000" dirty="0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Metadata </a:t>
            </a:r>
            <a:r>
              <a:rPr lang="km-KH" sz="2000" dirty="0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និងការភ្ជាប់បណ្ណាល័យក្រៅ (</a:t>
            </a:r>
            <a:r>
              <a:rPr lang="en-US" sz="2000" dirty="0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External Libraries)</a:t>
            </a:r>
            <a:r>
              <a:rPr lang="km-KH" sz="2000" dirty="0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។</a:t>
            </a:r>
            <a:endParaRPr lang="en-US" sz="2000" dirty="0">
              <a:solidFill>
                <a:srgbClr val="C00000"/>
              </a:solidFill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E4E416E1-3D93-95BF-042C-C5943800503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2201" r="2201"/>
          <a:stretch>
            <a:fillRect/>
          </a:stretch>
        </p:blipFill>
        <p:spPr>
          <a:xfrm>
            <a:off x="482214" y="3417627"/>
            <a:ext cx="5747987" cy="2923997"/>
          </a:xfr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6BB28A2-708D-205A-9532-277F8D214D0F}"/>
              </a:ext>
            </a:extLst>
          </p:cNvPr>
          <p:cNvSpPr txBox="1"/>
          <p:nvPr/>
        </p:nvSpPr>
        <p:spPr>
          <a:xfrm>
            <a:off x="504961" y="1357265"/>
            <a:ext cx="5591040" cy="6001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3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1.HTML Head Section</a:t>
            </a:r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2C8D473E-637E-AC0F-FE1D-0557A737E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3473" y="3579531"/>
            <a:ext cx="5596711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m-KH" altLang="en-US" sz="1400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ក</a:t>
            </a:r>
            <a:r>
              <a:rPr kumimoji="0" lang="km-KH" altLang="en-US" sz="1400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ារប្រើ </a:t>
            </a:r>
            <a:r>
              <a:rPr kumimoji="0" lang="en-US" altLang="en-US" sz="1400" dirty="0">
                <a:latin typeface="!Khmer OS Battambang" panose="02000500000000020004" pitchFamily="2" charset="0"/>
                <a:ea typeface="Arial Unicode MS"/>
                <a:cs typeface="!Khmer OS Battambang" panose="02000500000000020004" pitchFamily="2" charset="0"/>
              </a:rPr>
              <a:t>&lt;meta name="viewport"&gt;</a:t>
            </a:r>
            <a:r>
              <a:rPr kumimoji="0" lang="km-KH" altLang="en-US" sz="1400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 ដើម្បីឱ្យគេហទំព័រដើរបានល្អលើទូរស័ព្ទ </a:t>
            </a:r>
            <a:r>
              <a:rPr kumimoji="0" lang="en-US" altLang="en-US" sz="1400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(Responsive Design)</a:t>
            </a:r>
            <a:r>
              <a:rPr kumimoji="0" lang="km-KH" altLang="en-US" sz="1400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។</a:t>
            </a:r>
            <a:endParaRPr lang="en-US" altLang="en-US" sz="1400" dirty="0"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km-KH" altLang="en-US" sz="1400" dirty="0"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m-KH" altLang="en-US" sz="1400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ការភ្ជាប់បណ្ណាល័យ </a:t>
            </a:r>
            <a:r>
              <a:rPr kumimoji="0" lang="en-US" altLang="en-US" sz="1400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Font Awesome</a:t>
            </a:r>
            <a:r>
              <a:rPr kumimoji="0" lang="km-KH" altLang="en-US" sz="1400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 សម្រាប់ប្រើប្រាស់ </a:t>
            </a:r>
            <a:r>
              <a:rPr kumimoji="0" lang="en-US" altLang="en-US" sz="1400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Icon </a:t>
            </a:r>
            <a:r>
              <a:rPr kumimoji="0" lang="km-KH" altLang="en-US" sz="1400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ផ្សេងៗ។</a:t>
            </a:r>
            <a:endParaRPr lang="en-US" altLang="en-US" sz="1400" dirty="0"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km-KH" altLang="en-US" sz="1400" dirty="0"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m-KH" altLang="en-US" sz="1400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ការប្រើប្រាស់ </a:t>
            </a:r>
            <a:r>
              <a:rPr kumimoji="0" lang="en-US" altLang="en-US" sz="1400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Tailwind CSS</a:t>
            </a:r>
            <a:r>
              <a:rPr kumimoji="0" lang="km-KH" altLang="en-US" sz="1400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 តាមរយៈ </a:t>
            </a:r>
            <a:r>
              <a:rPr kumimoji="0" lang="en-US" altLang="en-US" sz="1400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CDN </a:t>
            </a:r>
            <a:r>
              <a:rPr kumimoji="0" lang="km-KH" altLang="en-US" sz="1400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ដើម្បីងាយស្រួលក្នុងការរចនា </a:t>
            </a:r>
            <a:r>
              <a:rPr kumimoji="0" lang="en-US" altLang="en-US" sz="1400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(Styling) </a:t>
            </a:r>
            <a:r>
              <a:rPr kumimoji="0" lang="km-KH" altLang="en-US" sz="1400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ដោយមិនបាច់សរសេរ </a:t>
            </a:r>
            <a:r>
              <a:rPr kumimoji="0" lang="en-US" altLang="en-US" sz="1400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CSS </a:t>
            </a:r>
            <a:r>
              <a:rPr kumimoji="0" lang="km-KH" altLang="en-US" sz="1400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ច្រើន។</a:t>
            </a:r>
            <a:endParaRPr lang="en-US" altLang="en-US" sz="1400" dirty="0"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2495028"/>
          </a:xfrm>
        </p:spPr>
        <p:txBody>
          <a:bodyPr/>
          <a:lstStyle/>
          <a:p>
            <a:r>
              <a:rPr lang="en-US">
                <a:latin typeface="!Khmer OS Battambang" panose="02000500000000020004" pitchFamily="2" charset="0"/>
                <a:cs typeface="!Khmer OS Battambang" panose="02000500000000020004" pitchFamily="2" charset="0"/>
              </a:rPr>
              <a:t>Overcoming nervousness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68" y="4220383"/>
            <a:ext cx="11479995" cy="1286956"/>
          </a:xfrm>
        </p:spPr>
        <p:txBody>
          <a:bodyPr vert="horz" lIns="91440" tIns="0" rIns="91440" bIns="0" rtlCol="0" anchor="t">
            <a:noAutofit/>
          </a:bodyPr>
          <a:lstStyle/>
          <a:p>
            <a:pPr marL="457200" indent="-457200" algn="just">
              <a:buChar char="•"/>
            </a:pPr>
            <a:r>
              <a:rPr lang="km-KH" sz="1600" b="1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ការប្រើ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Tailwind CSS </a:t>
            </a:r>
            <a:r>
              <a:rPr 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bg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-gradient-to-r </a:t>
            </a:r>
            <a:r>
              <a:rPr lang="km-KH" sz="1600" b="1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ដើម្បីបង្កើតពណ៌ពី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Purple</a:t>
            </a:r>
            <a:r>
              <a:rPr lang="en-US" sz="1600" b="1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 </a:t>
            </a:r>
            <a:r>
              <a:rPr lang="km-KH" sz="1600" b="1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ទៅ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</a:t>
            </a:r>
            <a:r>
              <a:rPr lang="km-KH" sz="1600" b="1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។</a:t>
            </a:r>
            <a:endParaRPr lang="en-US" sz="1600" b="1" dirty="0">
              <a:solidFill>
                <a:srgbClr val="000000"/>
              </a:solidFill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algn="just"/>
            <a:r>
              <a:rPr lang="km-KH" sz="1600" b="1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        ការរៀបចំ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Layout</a:t>
            </a:r>
            <a:r>
              <a:rPr lang="en-US" sz="1600" b="1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 </a:t>
            </a:r>
            <a:r>
              <a:rPr lang="km-KH" sz="1600" b="1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ឱ្យមានភាពបត់បែនដោយប្រើ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flex-col</a:t>
            </a:r>
            <a:r>
              <a:rPr lang="en-US" sz="1600" b="1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 </a:t>
            </a:r>
            <a:r>
              <a:rPr lang="km-KH" sz="1600" b="1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លើទូរស័ព្ទ និង </a:t>
            </a:r>
            <a:r>
              <a:rPr 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md:flex-row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m-KH" sz="1600" b="1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លើកុំព្យូទ័រ។</a:t>
            </a:r>
          </a:p>
          <a:p>
            <a:pPr algn="just"/>
            <a:endParaRPr lang="km-KH" sz="1600" b="1" dirty="0">
              <a:solidFill>
                <a:srgbClr val="000000"/>
              </a:solidFill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marL="457200" indent="-457200" algn="just">
              <a:buChar char="•"/>
            </a:pPr>
            <a:r>
              <a:rPr lang="km-KH" sz="1600" b="1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ការដាក់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Logo (</a:t>
            </a:r>
            <a:r>
              <a:rPr 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Lunator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Cosmetic) </a:t>
            </a:r>
            <a:r>
              <a:rPr lang="km-KH" sz="1600" b="1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ដែលមាន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</a:t>
            </a:r>
            <a:r>
              <a:rPr lang="en-US" sz="1600" b="1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 </a:t>
            </a:r>
            <a:r>
              <a:rPr lang="km-KH" sz="1600" b="1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នៅពេលយក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Mouse</a:t>
            </a:r>
            <a:r>
              <a:rPr lang="en-US" sz="1600" b="1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 </a:t>
            </a:r>
            <a:r>
              <a:rPr lang="km-KH" sz="1600" b="1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ទៅដាក់ពីលើ </a:t>
            </a:r>
            <a:r>
              <a:rPr lang="km-KH" sz="1600" b="1" dirty="0">
                <a:solidFill>
                  <a:srgbClr val="000000"/>
                </a:solidFill>
                <a:latin typeface="Times New Roman" panose="02020603050405020304" pitchFamily="18" charset="0"/>
                <a:cs typeface="!Khmer OS Battambang" panose="02000500000000020004" pitchFamily="2" charset="0"/>
              </a:rPr>
              <a:t>(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Hover Effect)</a:t>
            </a:r>
            <a:r>
              <a:rPr lang="km-KH" sz="1600" b="1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។</a:t>
            </a:r>
            <a:endParaRPr lang="en-US" sz="1600" b="1" dirty="0">
              <a:solidFill>
                <a:srgbClr val="000000"/>
              </a:solidFill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</p:txBody>
      </p:sp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A146112E-0DF7-62CE-CDD3-85D3141994D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4568" t="1705" r="2175" b="520"/>
          <a:stretch>
            <a:fillRect/>
          </a:stretch>
        </p:blipFill>
        <p:spPr>
          <a:xfrm>
            <a:off x="451932" y="443353"/>
            <a:ext cx="6292988" cy="34544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667B7A-BEC5-CD40-F9F9-75C93FBE0704}"/>
              </a:ext>
            </a:extLst>
          </p:cNvPr>
          <p:cNvSpPr txBox="1"/>
          <p:nvPr/>
        </p:nvSpPr>
        <p:spPr>
          <a:xfrm>
            <a:off x="6744920" y="587607"/>
            <a:ext cx="4878390" cy="8002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m-KH" sz="2300" u="sng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2.ផ្នែកក្បាលនៃទំព័រ </a:t>
            </a:r>
            <a:r>
              <a:rPr lang="km-KH" sz="2300" u="sng" dirty="0">
                <a:latin typeface="Times New Roman" panose="02020603050405020304" pitchFamily="18" charset="0"/>
                <a:cs typeface="!Khmer OS Battambang" panose="02000500000000020004" pitchFamily="2" charset="0"/>
              </a:rPr>
              <a:t>(</a:t>
            </a:r>
            <a:r>
              <a:rPr lang="en-US" sz="23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 &amp; Navigation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8813D6-2534-D8BF-689D-0E8BF0DC0572}"/>
              </a:ext>
            </a:extLst>
          </p:cNvPr>
          <p:cNvSpPr txBox="1"/>
          <p:nvPr/>
        </p:nvSpPr>
        <p:spPr>
          <a:xfrm>
            <a:off x="6744920" y="1710456"/>
            <a:ext cx="4878390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 algn="just">
              <a:buFont typeface="Wingdings"/>
              <a:buChar char="q"/>
            </a:pPr>
            <a:r>
              <a:rPr lang="km-KH" b="1" dirty="0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ការបង្កើត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Header</a:t>
            </a:r>
            <a:r>
              <a:rPr lang="en-US" b="1" dirty="0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 </a:t>
            </a:r>
            <a:r>
              <a:rPr lang="km-KH" b="1" dirty="0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ដែលមាន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r>
              <a:rPr lang="en-US" b="1" dirty="0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 </a:t>
            </a:r>
            <a:r>
              <a:rPr lang="km-KH" b="1" dirty="0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ជាពណ៌ឆ្នូត </a:t>
            </a:r>
            <a:r>
              <a:rPr lang="km-KH" b="1" dirty="0">
                <a:solidFill>
                  <a:srgbClr val="C00000"/>
                </a:solidFill>
                <a:latin typeface="Times New Roman" panose="02020603050405020304" pitchFamily="18" charset="0"/>
                <a:cs typeface="!Khmer OS Battambang" panose="02000500000000020004" pitchFamily="2" charset="0"/>
              </a:rPr>
              <a:t>(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Gradient) </a:t>
            </a:r>
            <a:r>
              <a:rPr lang="km-KH" b="1" dirty="0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និងការដាក់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Logo</a:t>
            </a:r>
            <a:r>
              <a:rPr lang="en-US" b="1" dirty="0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 </a:t>
            </a:r>
            <a:r>
              <a:rPr lang="km-KH" b="1" dirty="0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ក្រុមហ៊ុន។</a:t>
            </a:r>
            <a:endParaRPr lang="en-US" b="1" dirty="0">
              <a:solidFill>
                <a:srgbClr val="C00000"/>
              </a:solidFill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67A4C5-DCD8-5D35-00BC-3FBB63C66A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632"/>
          <a:stretch>
            <a:fillRect/>
          </a:stretch>
        </p:blipFill>
        <p:spPr>
          <a:xfrm>
            <a:off x="1604335" y="5507339"/>
            <a:ext cx="8983329" cy="1035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4690" y="192386"/>
            <a:ext cx="7965461" cy="994164"/>
          </a:xfrm>
        </p:spPr>
        <p:txBody>
          <a:bodyPr/>
          <a:lstStyle/>
          <a:p>
            <a:r>
              <a:rPr lang="km-KH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3.បញ្ជីមុខងារចម្បង </a:t>
            </a:r>
            <a:r>
              <a:rPr lang="km-KH" b="0" dirty="0">
                <a:solidFill>
                  <a:srgbClr val="000000"/>
                </a:solidFill>
                <a:latin typeface="Times New Roman" panose="02020603050405020304" pitchFamily="18" charset="0"/>
                <a:cs typeface="!Khmer OS Battambang" panose="02000500000000020004" pitchFamily="2" charset="0"/>
              </a:rPr>
              <a:t>(</a:t>
            </a:r>
            <a:r>
              <a:rPr lang="en-US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Navigation Links)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6D2599-4501-B645-ACAB-C2D9E1D608A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510119" y="4243946"/>
            <a:ext cx="9681882" cy="2614054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FA95A6-B986-1A68-5A05-784B534C9E5E}"/>
              </a:ext>
            </a:extLst>
          </p:cNvPr>
          <p:cNvSpPr txBox="1"/>
          <p:nvPr/>
        </p:nvSpPr>
        <p:spPr>
          <a:xfrm>
            <a:off x="2828055" y="1249039"/>
            <a:ext cx="9178452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buFont typeface="Wingdings"/>
              <a:buChar char="q"/>
            </a:pPr>
            <a:r>
              <a:rPr lang="km-KH" b="1" dirty="0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ការរៀបចំបញ្ជី </a:t>
            </a:r>
            <a:r>
              <a:rPr lang="en-US" b="1" dirty="0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Menu (ul) </a:t>
            </a:r>
            <a:r>
              <a:rPr lang="km-KH" b="1" dirty="0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សម្រាប់បង្ហាញលើអេក្រង់ធំ។</a:t>
            </a:r>
            <a:endParaRPr lang="en-US" b="1" dirty="0">
              <a:solidFill>
                <a:srgbClr val="C00000"/>
              </a:solidFill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9AF16D65-2271-5DE4-262F-BD0428E51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9375" y="1828505"/>
            <a:ext cx="936092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m-KH" altLang="en-US" sz="16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ការប្រើ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hidden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md:flex</a:t>
            </a:r>
            <a:r>
              <a:rPr kumimoji="0" lang="km-KH" altLang="en-US" sz="16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 មានន័យថា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Menu </a:t>
            </a:r>
            <a:r>
              <a:rPr kumimoji="0" lang="km-KH" altLang="en-US" sz="16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នេះនឹងត្រូវលាក់លើទូរស័ព្ទ ហើយបង្ហាញតែលើអេក្រង់កុំព្យូទ័រប៉ុណ្ណោះ។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effectLst/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km-KH" altLang="en-US" sz="1600" b="1" dirty="0"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m-KH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ការកំណត់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Font </a:t>
            </a:r>
            <a:r>
              <a:rPr kumimoji="0" lang="km-KH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ជាប្រភេទ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semibold</a:t>
            </a:r>
            <a:r>
              <a:rPr kumimoji="0" lang="km-KH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 និងទំហំអក្សរ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19px</a:t>
            </a:r>
            <a:r>
              <a:rPr kumimoji="0" lang="km-KH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 ដើម្បីឱ្យងាយស្រួលមើល។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DB26285-B0C9-9A9D-474C-04DBC7D204D8}"/>
              </a:ext>
            </a:extLst>
          </p:cNvPr>
          <p:cNvSpPr/>
          <p:nvPr/>
        </p:nvSpPr>
        <p:spPr>
          <a:xfrm>
            <a:off x="5598160" y="3429000"/>
            <a:ext cx="3830320" cy="1402080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3597" y="609222"/>
            <a:ext cx="7889625" cy="782383"/>
          </a:xfrm>
        </p:spPr>
        <p:txBody>
          <a:bodyPr/>
          <a:lstStyle/>
          <a:p>
            <a:pPr algn="ctr"/>
            <a:r>
              <a:rPr lang="km-KH" sz="2400" u="sng" dirty="0">
                <a:solidFill>
                  <a:schemeClr val="tx1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4.ផ្នែកសញ្ញារូបតំណាង </a:t>
            </a:r>
            <a:r>
              <a:rPr lang="km-KH" sz="2400" b="0" u="sng" dirty="0">
                <a:solidFill>
                  <a:schemeClr val="tx1"/>
                </a:solidFill>
                <a:latin typeface="Times New Roman" panose="02020603050405020304" pitchFamily="18" charset="0"/>
                <a:cs typeface="!Khmer OS Battambang" panose="02000500000000020004" pitchFamily="2" charset="0"/>
              </a:rPr>
              <a:t>(</a:t>
            </a:r>
            <a:r>
              <a:rPr lang="en-US" sz="2400" b="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 Icons)</a:t>
            </a:r>
            <a:br>
              <a:rPr lang="en-US" sz="2400" b="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u="sng" dirty="0">
                <a:latin typeface="!Khmer OS Battambang" panose="02000500000000020004" pitchFamily="2" charset="0"/>
                <a:cs typeface="!Khmer OS Battambang" panose="02000500000000020004" pitchFamily="2" charset="0"/>
              </a:rPr>
            </a:br>
            <a:endParaRPr lang="en-US" sz="2400" u="sng" dirty="0"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7043618" cy="2233233"/>
          </a:xfrm>
        </p:spPr>
        <p:txBody>
          <a:bodyPr/>
          <a:lstStyle/>
          <a:p>
            <a:r>
              <a:rPr lang="en-US">
                <a:latin typeface="!Khmer OS Battambang" panose="02000500000000020004" pitchFamily="2" charset="0"/>
                <a:cs typeface="!Khmer OS Battambang" panose="02000500000000020004" pitchFamily="2" charset="0"/>
              </a:rPr>
              <a:t>Enhancing your presentation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E4D7DC-8FDF-78C6-43F2-3DDA5B22D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12192000" cy="347718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4195C9B3-BFC2-B8E4-71DD-45A1A3E64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106" y="1841632"/>
            <a:ext cx="10908292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</a:pPr>
            <a:r>
              <a:rPr kumimoji="0" lang="km-KH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ការប្រើប្រាស់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fa-user, fa-magnifying-glass, </a:t>
            </a:r>
            <a:r>
              <a:rPr kumimoji="0" lang="km-KH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និង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fa-bag-shopping</a:t>
            </a:r>
            <a:r>
              <a:rPr kumimoji="0" lang="km-KH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 ពី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Font Awesome</a:t>
            </a:r>
            <a:r>
              <a:rPr kumimoji="0" lang="km-KH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។</a:t>
            </a:r>
            <a:endParaRPr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km-KH" altLang="en-US" sz="1400" b="1" dirty="0"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kumimoji="0" lang="km-KH" altLang="en-US" sz="14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ការបង្កើតសញ្ញាបង្ហាញចំនួនទំនិញ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(Notification Badge) </a:t>
            </a:r>
            <a:r>
              <a:rPr kumimoji="0" lang="km-KH" altLang="en-US" sz="14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ពណ៌ក្រហម ដោយប្រើ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absolute positioning</a:t>
            </a:r>
            <a:endParaRPr lang="en-US" altLang="en-US" sz="1400" b="1" dirty="0"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altLang="en-US" sz="1400" b="1" dirty="0"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 </a:t>
            </a:r>
            <a:r>
              <a:rPr kumimoji="0" lang="km-KH" altLang="en-US" sz="14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ដើម្បីឱ្យវាស្ថិតនៅចំកែងខាងលើនៃរូបកន្ត្រក។</a:t>
            </a:r>
            <a:endParaRPr lang="en-US" altLang="en-US" sz="1400" b="1" i="0" u="none" strike="noStrike" cap="none" normalizeH="0" baseline="0" dirty="0">
              <a:ln>
                <a:noFill/>
              </a:ln>
              <a:effectLst/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E0E216-1BC1-A1C5-3518-F4184E3C024D}"/>
              </a:ext>
            </a:extLst>
          </p:cNvPr>
          <p:cNvSpPr txBox="1"/>
          <p:nvPr/>
        </p:nvSpPr>
        <p:spPr>
          <a:xfrm>
            <a:off x="748757" y="1001583"/>
            <a:ext cx="7232076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buFont typeface="Wingdings"/>
              <a:buChar char="q"/>
            </a:pPr>
            <a:r>
              <a:rPr lang="km-KH" sz="2000" b="1" dirty="0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ការដាក់ </a:t>
            </a:r>
            <a:r>
              <a:rPr lang="en-US" sz="2000" b="1" dirty="0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Icon </a:t>
            </a:r>
            <a:r>
              <a:rPr lang="km-KH" sz="2000" b="1" dirty="0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សម្រាប់ </a:t>
            </a:r>
            <a:r>
              <a:rPr lang="en-US" sz="2000" b="1" dirty="0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User, Search </a:t>
            </a:r>
            <a:r>
              <a:rPr lang="km-KH" sz="2000" b="1" dirty="0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និង </a:t>
            </a:r>
            <a:r>
              <a:rPr lang="en-US" sz="2000" b="1" dirty="0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Shopping Bag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91DE0A-B95B-9572-C7BC-4107E6950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2662" y="3542013"/>
            <a:ext cx="1619476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369" y="116569"/>
            <a:ext cx="8792086" cy="812711"/>
          </a:xfrm>
        </p:spPr>
        <p:txBody>
          <a:bodyPr/>
          <a:lstStyle/>
          <a:p>
            <a:r>
              <a:rPr lang="km-KH" sz="2800" u="sng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5.ម៉ឺនុយសម្រាប់ទូរស័ព្ទ </a:t>
            </a:r>
            <a:r>
              <a:rPr lang="km-KH" sz="2800" b="0" u="sng" dirty="0">
                <a:solidFill>
                  <a:srgbClr val="000000"/>
                </a:solidFill>
                <a:latin typeface="Times New Roman" panose="02020603050405020304" pitchFamily="18" charset="0"/>
                <a:cs typeface="!Khmer OS Battambang" panose="02000500000000020004" pitchFamily="2" charset="0"/>
              </a:rPr>
              <a:t>(</a:t>
            </a:r>
            <a:r>
              <a:rPr lang="en-US" sz="2800" b="0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Menu Button)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05BD58-6CDB-AC51-18D5-2EE6D4ABEC1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22728" y="4045675"/>
            <a:ext cx="8561316" cy="188807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0FF86F-3F65-AD63-E491-2C924053B15F}"/>
              </a:ext>
            </a:extLst>
          </p:cNvPr>
          <p:cNvSpPr txBox="1"/>
          <p:nvPr/>
        </p:nvSpPr>
        <p:spPr>
          <a:xfrm>
            <a:off x="112" y="2497830"/>
            <a:ext cx="10100507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m-KH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ការប្រើ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md:hidden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m-KH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ដើម្បីឱ្យប៊ូតុងនេះបង្ហាញតែលើឧបករណ៍ដែលមានអេក្រង់តូចប៉ុណ្ណោះ។</a:t>
            </a:r>
          </a:p>
          <a:p>
            <a:pPr lvl="1"/>
            <a:endParaRPr lang="km-KH" b="1" dirty="0"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m-KH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ការប្រើ </a:t>
            </a:r>
            <a:r>
              <a:rPr lang="en-US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Icon fa-bars </a:t>
            </a:r>
            <a:r>
              <a:rPr lang="km-KH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ដែលជាសញ្ញាសម្គាល់ទូទៅសម្រាប់បើក </a:t>
            </a:r>
            <a:r>
              <a:rPr lang="en-US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Menu </a:t>
            </a:r>
            <a:r>
              <a:rPr lang="km-KH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លើ </a:t>
            </a:r>
            <a:r>
              <a:rPr lang="en-US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Mobile</a:t>
            </a:r>
            <a:r>
              <a:rPr lang="km-KH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8CA82A-553B-5B17-E9D9-E59D325C68D2}"/>
              </a:ext>
            </a:extLst>
          </p:cNvPr>
          <p:cNvSpPr txBox="1"/>
          <p:nvPr/>
        </p:nvSpPr>
        <p:spPr>
          <a:xfrm>
            <a:off x="535597" y="1713660"/>
            <a:ext cx="7944492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Wingdings"/>
              <a:buChar char="q"/>
            </a:pPr>
            <a:r>
              <a:rPr lang="km-KH" b="1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ការបង្កើតប៊ូតុង </a:t>
            </a:r>
            <a:r>
              <a:rPr lang="en-US" b="1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Hamburger Menu </a:t>
            </a:r>
            <a:r>
              <a:rPr lang="km-KH" b="1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សម្រាប់អ្នកប្រើប្រាស់ទូរស័ព្ទ</a:t>
            </a:r>
            <a:endParaRPr lang="en-US" b="1">
              <a:solidFill>
                <a:srgbClr val="C00000"/>
              </a:solidFill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F0A48C2-DF47-3F1D-B4D9-1E9F39BD3F16}"/>
              </a:ext>
            </a:extLst>
          </p:cNvPr>
          <p:cNvGrpSpPr/>
          <p:nvPr/>
        </p:nvGrpSpPr>
        <p:grpSpPr>
          <a:xfrm>
            <a:off x="9497216" y="3436841"/>
            <a:ext cx="2372056" cy="2915057"/>
            <a:chOff x="7294061" y="3474500"/>
            <a:chExt cx="2372056" cy="291505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F07ADF1-5C18-E67C-0DD7-0D7B9BF53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94061" y="3474500"/>
              <a:ext cx="2372056" cy="2915057"/>
            </a:xfrm>
            <a:prstGeom prst="rect">
              <a:avLst/>
            </a:prstGeom>
          </p:spPr>
        </p:pic>
        <p:sp>
          <p:nvSpPr>
            <p:cNvPr id="4" name="Double Bracket 3">
              <a:extLst>
                <a:ext uri="{FF2B5EF4-FFF2-40B4-BE49-F238E27FC236}">
                  <a16:creationId xmlns:a16="http://schemas.microsoft.com/office/drawing/2014/main" id="{5919E711-DA70-E73F-C9E8-0EF4C9E283A6}"/>
                </a:ext>
              </a:extLst>
            </p:cNvPr>
            <p:cNvSpPr/>
            <p:nvPr/>
          </p:nvSpPr>
          <p:spPr>
            <a:xfrm>
              <a:off x="9024955" y="4256240"/>
              <a:ext cx="381000" cy="321945"/>
            </a:xfrm>
            <a:prstGeom prst="bracketPair">
              <a:avLst/>
            </a:prstGeom>
            <a:noFill/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!Khmer OS Battambang" panose="02000500000000020004" pitchFamily="2" charset="0"/>
                <a:cs typeface="!Khmer OS Battambang" panose="02000500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C7466D-2EA0-AD0E-51BE-1E08DA15E0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56" b="-1"/>
          <a:stretch>
            <a:fillRect/>
          </a:stretch>
        </p:blipFill>
        <p:spPr>
          <a:xfrm>
            <a:off x="9286239" y="3323230"/>
            <a:ext cx="2666401" cy="3534769"/>
          </a:xfrm>
          <a:prstGeom prst="rect">
            <a:avLst/>
          </a:prstGeom>
        </p:spPr>
      </p:pic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43002" y="536870"/>
            <a:ext cx="7253554" cy="557890"/>
          </a:xfrm>
        </p:spPr>
        <p:txBody>
          <a:bodyPr vert="horz" lIns="91440" tIns="0" rIns="91440" bIns="0" rtlCol="0" anchor="t">
            <a:noAutofit/>
          </a:bodyPr>
          <a:lstStyle/>
          <a:p>
            <a:pPr marL="0" indent="0">
              <a:buNone/>
            </a:pPr>
            <a:r>
              <a:rPr lang="km-KH" sz="2400" b="1" u="sng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6.ផ្នែក </a:t>
            </a:r>
            <a:r>
              <a:rPr lang="en-US" sz="2400" b="1" u="sng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Hero Section (</a:t>
            </a:r>
            <a:r>
              <a:rPr lang="km-KH" sz="2400" b="1" u="sng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ចំណុចចាប់ផ្ដើមនៃទំព័រ)</a:t>
            </a:r>
            <a:endParaRPr lang="en-US" sz="2400" b="1" u="sng">
              <a:solidFill>
                <a:srgbClr val="000000"/>
              </a:solidFill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9737A4E-35F7-466A-2201-9680D261C16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rcRect l="408" r="553" b="5740"/>
          <a:stretch>
            <a:fillRect/>
          </a:stretch>
        </p:blipFill>
        <p:spPr>
          <a:xfrm>
            <a:off x="0" y="3996647"/>
            <a:ext cx="8546109" cy="2861353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01257C-A0A3-9925-7ED6-A9AE8FBA48E0}"/>
              </a:ext>
            </a:extLst>
          </p:cNvPr>
          <p:cNvSpPr txBox="1"/>
          <p:nvPr/>
        </p:nvSpPr>
        <p:spPr>
          <a:xfrm>
            <a:off x="239359" y="2153679"/>
            <a:ext cx="11113214" cy="116955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m-KH" sz="14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ការប្រើ </a:t>
            </a:r>
            <a:r>
              <a:rPr lang="en-US" sz="1400" b="1" dirty="0" err="1">
                <a:latin typeface="!Khmer OS Battambang" panose="02000500000000020004" pitchFamily="2" charset="0"/>
                <a:cs typeface="!Khmer OS Battambang" panose="02000500000000020004" pitchFamily="2" charset="0"/>
              </a:rPr>
              <a:t>bg</a:t>
            </a:r>
            <a:r>
              <a:rPr lang="en-US" sz="14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-cover </a:t>
            </a:r>
            <a:r>
              <a:rPr lang="km-KH" sz="14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និង </a:t>
            </a:r>
            <a:r>
              <a:rPr lang="en-US" sz="1400" b="1" dirty="0" err="1">
                <a:latin typeface="!Khmer OS Battambang" panose="02000500000000020004" pitchFamily="2" charset="0"/>
                <a:cs typeface="!Khmer OS Battambang" panose="02000500000000020004" pitchFamily="2" charset="0"/>
              </a:rPr>
              <a:t>bg</a:t>
            </a:r>
            <a:r>
              <a:rPr lang="en-US" sz="14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-center </a:t>
            </a:r>
            <a:r>
              <a:rPr lang="km-KH" sz="14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ដើម្បីឱ្យរូបភាព </a:t>
            </a:r>
            <a:r>
              <a:rPr lang="en-US" sz="14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Background </a:t>
            </a:r>
            <a:r>
              <a:rPr lang="km-KH" sz="14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បង្ហាញបានពេញ និងស្អាតលើគ្រប់ទំហំអេក្រង់។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km-KH" sz="1400" b="1" dirty="0"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m-KH" sz="14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កម្ពស់ត្រូវបានកំណត់ </a:t>
            </a:r>
            <a:r>
              <a:rPr lang="en-US" sz="14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min-h-[90vh] </a:t>
            </a:r>
            <a:r>
              <a:rPr lang="km-KH" sz="14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ដើម្បីឱ្យវាបង្ហាញស្ទើរតែពេញអេក្រង់កុំព្យូទ័រ។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km-KH" sz="1400" b="1" dirty="0"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m-KH" sz="14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មានប៊ូតុង "</a:t>
            </a:r>
            <a:r>
              <a:rPr lang="en-US" sz="14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Shop Now" </a:t>
            </a:r>
            <a:r>
              <a:rPr lang="km-KH" sz="14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ដែលមាន </a:t>
            </a:r>
            <a:r>
              <a:rPr lang="en-US" sz="14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hover:scale-105 </a:t>
            </a:r>
            <a:r>
              <a:rPr lang="km-KH" sz="14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សម្រាប់បង្កើតចលនា (</a:t>
            </a:r>
            <a:r>
              <a:rPr lang="en-US" sz="14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Animation) </a:t>
            </a:r>
            <a:r>
              <a:rPr lang="km-KH" sz="14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ពេលអ្នកប្រើប្រាស់ដាក់ </a:t>
            </a:r>
            <a:r>
              <a:rPr lang="en-US" sz="14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Mouse </a:t>
            </a:r>
            <a:r>
              <a:rPr lang="km-KH" sz="14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ពីលើ។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BA206D-70E0-7A25-FA70-EC53906A8601}"/>
              </a:ext>
            </a:extLst>
          </p:cNvPr>
          <p:cNvSpPr txBox="1"/>
          <p:nvPr/>
        </p:nvSpPr>
        <p:spPr>
          <a:xfrm>
            <a:off x="651831" y="1390879"/>
            <a:ext cx="724359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q"/>
            </a:pPr>
            <a:r>
              <a:rPr lang="km-KH" b="1" cap="all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ការ</a:t>
            </a:r>
            <a:r>
              <a:rPr lang="km-KH" sz="1800" b="1" cap="all" baseline="0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បង្កើតផ្ទាំង </a:t>
            </a:r>
            <a:r>
              <a:rPr lang="en-US" sz="1800" b="1" cap="all" baseline="0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Banner </a:t>
            </a:r>
            <a:r>
              <a:rPr lang="km-KH" sz="1800" b="1" cap="all" baseline="0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ធំនៅខាងលើគេបង្អស់ (</a:t>
            </a:r>
            <a:r>
              <a:rPr lang="en-US" sz="1800" b="1" cap="all" baseline="0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Hero Section)</a:t>
            </a:r>
            <a:endParaRPr lang="en-US" b="1">
              <a:solidFill>
                <a:srgbClr val="C00000"/>
              </a:solidFill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algn="ctr"/>
            <a:endParaRPr lang="en-US" b="1">
              <a:solidFill>
                <a:srgbClr val="C00000"/>
              </a:solidFill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559" y="178822"/>
            <a:ext cx="10376899" cy="1012782"/>
          </a:xfrm>
        </p:spPr>
        <p:txBody>
          <a:bodyPr/>
          <a:lstStyle/>
          <a:p>
            <a:r>
              <a:rPr lang="km-KH" sz="2800" u="sng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7.ផ្នែកផលិតផលថ្មី (</a:t>
            </a:r>
            <a:r>
              <a:rPr lang="en-US" sz="2800" u="sng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New Products Display)</a:t>
            </a:r>
            <a:br>
              <a:rPr lang="en-US" sz="2800" u="sng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</a:br>
            <a:endParaRPr lang="en-US" sz="2800" u="sng">
              <a:solidFill>
                <a:srgbClr val="000000"/>
              </a:solidFill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F1B686B-EEA9-41C8-D2B5-55EB542B221A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tretch>
            <a:fillRect/>
          </a:stretch>
        </p:blipFill>
        <p:spPr>
          <a:xfrm>
            <a:off x="3281917" y="3487480"/>
            <a:ext cx="8910083" cy="326919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40F29B-0D11-7962-D17E-72E3C3C1E05F}"/>
              </a:ext>
            </a:extLst>
          </p:cNvPr>
          <p:cNvSpPr txBox="1"/>
          <p:nvPr/>
        </p:nvSpPr>
        <p:spPr>
          <a:xfrm>
            <a:off x="1334393" y="1340767"/>
            <a:ext cx="6107986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Wingdings"/>
              <a:buChar char="q"/>
            </a:pPr>
            <a:r>
              <a:rPr lang="km-KH" b="1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ផ្នែកផលិតផលថ្មី (</a:t>
            </a:r>
            <a:r>
              <a:rPr lang="en-US" b="1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New Products Display)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0B23DF0-6BC6-B607-8979-831E3D03A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5203" y="2074624"/>
            <a:ext cx="1049197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m-KH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ការប្រើ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shadow-2xl</a:t>
            </a:r>
            <a:r>
              <a:rPr kumimoji="0" lang="km-KH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 ដើម្បីឱ្យរូបភាពមើលទៅមានលក្ខណៈផុសឡើង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(3D effect)</a:t>
            </a:r>
            <a:r>
              <a:rPr kumimoji="0" lang="km-KH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។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km-KH" altLang="en-US" sz="1600" b="1" dirty="0"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m-KH" altLang="en-US" sz="16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ការដាក់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loading="lazy"</a:t>
            </a:r>
            <a:r>
              <a:rPr kumimoji="0" lang="km-KH" altLang="en-US" sz="16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 ដើម្បីជួយឱ្យគេហទំព័រដើរលឿន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(Performance Optimization) </a:t>
            </a:r>
            <a:r>
              <a:rPr kumimoji="0" lang="km-KH" altLang="en-US" sz="16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ដោយវានឹង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Load </a:t>
            </a:r>
            <a:r>
              <a:rPr lang="km-KH" altLang="en-US" sz="16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រូប</a:t>
            </a:r>
            <a:endParaRPr lang="en-US" altLang="en-US" sz="1600" b="1" dirty="0"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km-KH" altLang="en-US" sz="1600" b="1" dirty="0"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kumimoji="0" lang="km-KH" altLang="en-US" sz="16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ភាពតែនៅពេលអ្នកប្រើ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Scroll </a:t>
            </a:r>
            <a:r>
              <a:rPr kumimoji="0" lang="km-KH" altLang="en-US" sz="16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ទៅដល់។</a:t>
            </a:r>
            <a:endParaRPr lang="en-US" altLang="en-US" sz="1600" b="1" i="0" u="none" strike="noStrike" cap="none" normalizeH="0" baseline="0" dirty="0">
              <a:ln>
                <a:noFill/>
              </a:ln>
              <a:effectLst/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023" y="-77688"/>
            <a:ext cx="11385075" cy="980844"/>
          </a:xfrm>
        </p:spPr>
        <p:txBody>
          <a:bodyPr/>
          <a:lstStyle/>
          <a:p>
            <a:r>
              <a:rPr lang="km-KH" sz="280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8.ការរៀបចំ </a:t>
            </a:r>
            <a:r>
              <a:rPr lang="en-US" sz="280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Layout </a:t>
            </a:r>
            <a:r>
              <a:rPr lang="km-KH" sz="280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បញ្ជីប្រភេទផលិតផល (</a:t>
            </a:r>
            <a:r>
              <a:rPr lang="en-US" sz="280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Category Section)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9FA6AB-099C-57C1-5656-A20481146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87945"/>
            <a:ext cx="12192000" cy="20700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AD06F6-4812-6409-855D-657123BEAC41}"/>
              </a:ext>
            </a:extLst>
          </p:cNvPr>
          <p:cNvSpPr txBox="1"/>
          <p:nvPr/>
        </p:nvSpPr>
        <p:spPr>
          <a:xfrm>
            <a:off x="1092857" y="1713813"/>
            <a:ext cx="10348386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/>
              <a:buChar char="q"/>
            </a:pPr>
            <a:r>
              <a:rPr lang="km-KH" sz="2000" b="1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ការប្រើប្រាស់ </a:t>
            </a:r>
            <a:r>
              <a:rPr lang="en-US" sz="2000" b="1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Grid Layout </a:t>
            </a:r>
            <a:r>
              <a:rPr lang="km-KH" sz="2000" b="1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និង </a:t>
            </a:r>
            <a:r>
              <a:rPr lang="en-US" sz="2000" b="1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Slider </a:t>
            </a:r>
            <a:r>
              <a:rPr lang="km-KH" sz="2000" b="1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សម្រាប់បែងចែកប្រភេទផលិតផល (</a:t>
            </a:r>
            <a:r>
              <a:rPr lang="en-US" sz="2000" b="1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Category)</a:t>
            </a:r>
            <a:r>
              <a:rPr lang="km-KH" sz="2000" b="1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។</a:t>
            </a:r>
            <a:endParaRPr lang="en-US" sz="2000" b="1">
              <a:solidFill>
                <a:srgbClr val="C00000"/>
              </a:solidFill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C65CA0C-88AC-7A8A-D29B-C488EEA70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397" y="2822814"/>
            <a:ext cx="923041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m-KH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ការប្រើ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overflow-x-auto</a:t>
            </a:r>
            <a:r>
              <a:rPr kumimoji="0" lang="km-KH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 ដើម្បីឱ្យអ្នកប្រើអាចអូស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(Scroll) </a:t>
            </a:r>
            <a:r>
              <a:rPr kumimoji="0" lang="km-KH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ទៅឆ្វេងស្ដាំបានលើទូរស័ព្ទ។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km-KH" altLang="en-US" b="1" dirty="0"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m-KH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ការកំណត់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md:grid-cols-4</a:t>
            </a:r>
            <a:r>
              <a:rPr kumimoji="0" lang="km-KH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 មានន័យថាលើអេក្រង់កុំព្យូទ័រ វានឹងបង្ហាញជា ៤ ជួរដេកក្នុងពេលតែមួយ។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37" y="192795"/>
            <a:ext cx="9875463" cy="999746"/>
          </a:xfrm>
        </p:spPr>
        <p:txBody>
          <a:bodyPr/>
          <a:lstStyle/>
          <a:p>
            <a:r>
              <a:rPr lang="en-US" u="sng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9.Category Card - Face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D75FEA-F727-639D-8EEA-AEF2A6866DB6}"/>
              </a:ext>
            </a:extLst>
          </p:cNvPr>
          <p:cNvSpPr txBox="1"/>
          <p:nvPr/>
        </p:nvSpPr>
        <p:spPr>
          <a:xfrm>
            <a:off x="773131" y="1639198"/>
            <a:ext cx="10532226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Wingdings"/>
              <a:buChar char="q"/>
            </a:pPr>
            <a:r>
              <a:rPr lang="km-KH" b="1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ការរចនា </a:t>
            </a:r>
            <a:r>
              <a:rPr lang="en-US" b="1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Card </a:t>
            </a:r>
            <a:r>
              <a:rPr lang="km-KH" b="1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សម្រាប់ប្រភេទផលិតផលនីមួយៗ (ឧទាហរណ៍៖ ផលិតផលសម្រាប់ផ្ទៃមុខ)។</a:t>
            </a:r>
            <a:endParaRPr lang="en-US" b="1">
              <a:solidFill>
                <a:srgbClr val="C00000"/>
              </a:solidFill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0119E96-DFB2-E4D2-058A-64B033345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495" y="2342504"/>
            <a:ext cx="121920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m-KH" altLang="en-US" sz="1600" b="1" i="0" u="none" strike="noStrike" cap="none" normalizeH="0" baseline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ការប្រើ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aspect-square</a:t>
            </a:r>
            <a:r>
              <a:rPr kumimoji="0" lang="km-KH" altLang="en-US" sz="1600" b="1" i="0" u="none" strike="noStrike" cap="none" normalizeH="0" baseline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 ដើម្បីឱ្យរូបភាពមានរាងការ៉េស្មើស្អាត។</a:t>
            </a:r>
            <a:endParaRPr kumimoji="0" lang="en-US" altLang="en-US" sz="1600" b="1" i="0" u="none" strike="noStrike" cap="none" normalizeH="0" baseline="0">
              <a:ln>
                <a:noFill/>
              </a:ln>
              <a:effectLst/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km-KH" altLang="en-US" sz="1600" b="1"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m-KH" altLang="en-US" sz="1600" b="1" i="0" u="none" strike="noStrike" cap="none" normalizeH="0" baseline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ការប្រើ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absolute bottom-0</a:t>
            </a:r>
            <a:r>
              <a:rPr kumimoji="0" lang="km-KH" altLang="en-US" sz="1600" b="1" i="0" u="none" strike="noStrike" cap="none" normalizeH="0" baseline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 ដើម្បីដាក់អក្សរ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"Face" </a:t>
            </a:r>
            <a:r>
              <a:rPr kumimoji="0" lang="km-KH" altLang="en-US" sz="1600" b="1" i="0" u="none" strike="noStrike" cap="none" normalizeH="0" baseline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នៅពីលើរូបភាពផ្នែកខាងក្រោម។</a:t>
            </a:r>
            <a:endParaRPr kumimoji="0" lang="en-US" altLang="en-US" sz="1600" b="1" i="0" u="none" strike="noStrike" cap="none" normalizeH="0" baseline="0">
              <a:ln>
                <a:noFill/>
              </a:ln>
              <a:effectLst/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km-KH" altLang="en-US" sz="1600" b="1"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hover:scale-110</a:t>
            </a:r>
            <a:r>
              <a:rPr kumimoji="0" lang="km-KH" altLang="en-US" sz="1600" b="1" i="0" u="none" strike="noStrike" cap="none" normalizeH="0" baseline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 ធ្វើឱ្យរូបភាពរីកធំតិចៗនៅពេល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Hover </a:t>
            </a:r>
            <a:r>
              <a:rPr kumimoji="0" lang="km-KH" altLang="en-US" sz="1600" b="1" i="0" u="none" strike="noStrike" cap="none" normalizeH="0" baseline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ដែលបង្កើនភាពទាក់ទាញ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(User Engagement)</a:t>
            </a:r>
            <a:r>
              <a:rPr kumimoji="0" lang="km-KH" altLang="en-US" sz="1600" b="1" i="0" u="none" strike="noStrike" cap="none" normalizeH="0" baseline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។</a:t>
            </a:r>
            <a:endParaRPr kumimoji="0" lang="en-US" altLang="en-US" sz="1600" b="1" i="0" u="none" strike="noStrike" cap="none" normalizeH="0" baseline="0">
              <a:ln>
                <a:noFill/>
              </a:ln>
              <a:effectLst/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E28CB4E9-DEEC-0377-7A35-9989B2220C6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633182" y="4310482"/>
            <a:ext cx="9226602" cy="2056879"/>
          </a:xfrm>
        </p:spPr>
      </p:pic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013" y="457217"/>
            <a:ext cx="10511627" cy="1135276"/>
          </a:xfrm>
        </p:spPr>
        <p:txBody>
          <a:bodyPr/>
          <a:lstStyle/>
          <a:p>
            <a:r>
              <a:rPr lang="en-US" sz="2800" u="sng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10</a:t>
            </a:r>
            <a:r>
              <a:rPr lang="km-KH" sz="2800" u="sng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.ផ្នែកផលិតផលកំពុងពេញនិយម (</a:t>
            </a:r>
            <a:r>
              <a:rPr lang="en-US" sz="2800" u="sng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Trending Products Section)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11C610-CD78-001D-CFFA-A75BAE3A7756}"/>
              </a:ext>
            </a:extLst>
          </p:cNvPr>
          <p:cNvSpPr txBox="1"/>
          <p:nvPr/>
        </p:nvSpPr>
        <p:spPr>
          <a:xfrm>
            <a:off x="1280942" y="1944576"/>
            <a:ext cx="7631985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Wingdings"/>
              <a:buChar char="q"/>
            </a:pPr>
            <a:r>
              <a:rPr lang="km-KH" b="1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ការរៀបចំ </a:t>
            </a:r>
            <a:r>
              <a:rPr lang="en-US" b="1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Layout </a:t>
            </a:r>
            <a:r>
              <a:rPr lang="km-KH" b="1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សម្រាប់បង្ហាញផលិតផលដែលលក់ដាច់បំផុត។</a:t>
            </a:r>
            <a:endParaRPr lang="en-US" b="1">
              <a:solidFill>
                <a:srgbClr val="C00000"/>
              </a:solidFill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02DAD1-EB3D-1FC7-73F4-03D871D5CD7A}"/>
              </a:ext>
            </a:extLst>
          </p:cNvPr>
          <p:cNvSpPr txBox="1"/>
          <p:nvPr/>
        </p:nvSpPr>
        <p:spPr>
          <a:xfrm>
            <a:off x="750012" y="2554405"/>
            <a:ext cx="10855959" cy="13234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m-KH" sz="16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ការប្រើ </a:t>
            </a:r>
            <a:r>
              <a:rPr lang="en-US" sz="16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flex-col </a:t>
            </a:r>
            <a:r>
              <a:rPr lang="en-US" sz="1600" b="1" dirty="0" err="1">
                <a:latin typeface="!Khmer OS Battambang" panose="02000500000000020004" pitchFamily="2" charset="0"/>
                <a:cs typeface="!Khmer OS Battambang" panose="02000500000000020004" pitchFamily="2" charset="0"/>
              </a:rPr>
              <a:t>md:flex-row</a:t>
            </a:r>
            <a:r>
              <a:rPr lang="en-US" sz="16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 </a:t>
            </a:r>
            <a:r>
              <a:rPr lang="km-KH" sz="16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ដើម្បីប្តូរពីបញ្ឈរ (លើ </a:t>
            </a:r>
            <a:r>
              <a:rPr lang="en-US" sz="16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Mobile) </a:t>
            </a:r>
            <a:r>
              <a:rPr lang="km-KH" sz="16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មកជាដេក (លើ </a:t>
            </a:r>
            <a:r>
              <a:rPr lang="en-US" sz="16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Desktop)</a:t>
            </a:r>
            <a:r>
              <a:rPr lang="km-KH" sz="16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។</a:t>
            </a:r>
          </a:p>
          <a:p>
            <a:pPr lvl="1"/>
            <a:endParaRPr lang="km-KH" sz="1600" b="1" dirty="0"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m-KH" sz="16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ការប្រើពណ៌អក្សរជាក់លាក់ </a:t>
            </a:r>
            <a:r>
              <a:rPr lang="en-US" sz="16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text-[#EB5160] </a:t>
            </a:r>
            <a:r>
              <a:rPr lang="km-KH" sz="16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ដើម្បីឱ្យត្រូវទៅនឹង </a:t>
            </a:r>
            <a:r>
              <a:rPr lang="en-US" sz="16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Brand Identity</a:t>
            </a:r>
            <a:r>
              <a:rPr lang="km-KH" sz="16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។</a:t>
            </a:r>
          </a:p>
          <a:p>
            <a:pPr lvl="1"/>
            <a:endParaRPr lang="km-KH" sz="1600" b="1" dirty="0"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m-KH" sz="16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ការកំណត់ </a:t>
            </a:r>
            <a:r>
              <a:rPr lang="en-US" sz="16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leading-relaxed </a:t>
            </a:r>
            <a:r>
              <a:rPr lang="km-KH" sz="16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ដើម្បីឱ្យអត្ថបទពណ៌នាមានគម្លាតបន្ទាត់ស្រួលអាន។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B64AF772-F1CE-A683-385B-79309C423C8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922572" y="4439647"/>
            <a:ext cx="10510838" cy="2176910"/>
          </a:xfrm>
        </p:spPr>
      </p:pic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EB24B-14C9-7BB7-6DB5-11F860CBC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866" y="139202"/>
            <a:ext cx="7965461" cy="994164"/>
          </a:xfrm>
        </p:spPr>
        <p:txBody>
          <a:bodyPr/>
          <a:lstStyle/>
          <a:p>
            <a:r>
              <a:rPr lang="km-KH" sz="2800" u="sng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1</a:t>
            </a:r>
            <a:r>
              <a:rPr lang="en-US" sz="2800" u="sng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1</a:t>
            </a:r>
            <a:r>
              <a:rPr lang="km-KH" sz="2800" u="sng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.ការរៀបចំកាតផលិតផល (</a:t>
            </a:r>
            <a:r>
              <a:rPr lang="en-US" sz="2800" u="sng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Product Card Detail)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2321495-C872-1ECF-5012-31D9CE1F4DD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586454" y="4806563"/>
            <a:ext cx="9605546" cy="2082685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638A77-934D-1726-6368-B0EBF3785D35}"/>
              </a:ext>
            </a:extLst>
          </p:cNvPr>
          <p:cNvSpPr txBox="1"/>
          <p:nvPr/>
        </p:nvSpPr>
        <p:spPr>
          <a:xfrm>
            <a:off x="1340325" y="1821976"/>
            <a:ext cx="8921329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Wingdings"/>
              <a:buChar char="q"/>
            </a:pPr>
            <a:r>
              <a:rPr lang="km-KH" b="1" dirty="0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ការបង្ហាញព័ត៌មានលម្អិតនៃផលិតផលម្នាក់ៗ (ឧទាហរណ៍៖ </a:t>
            </a:r>
            <a:r>
              <a:rPr lang="en-US" b="1" dirty="0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Hydration Serum)</a:t>
            </a:r>
            <a:r>
              <a:rPr lang="km-KH" b="1" dirty="0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។</a:t>
            </a:r>
            <a:endParaRPr lang="en-US" b="1" dirty="0">
              <a:solidFill>
                <a:srgbClr val="C00000"/>
              </a:solidFill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55A4F93-AE28-B644-85AE-10381928D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6387" y="2536975"/>
            <a:ext cx="9045168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Image Hover Effect:</a:t>
            </a:r>
            <a:r>
              <a:rPr kumimoji="0" lang="km-KH" altLang="en-US" sz="14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 ប្រើ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hover:scale-110</a:t>
            </a:r>
            <a:r>
              <a:rPr kumimoji="0" lang="km-KH" altLang="en-US" sz="14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 និង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transition-all</a:t>
            </a:r>
            <a:r>
              <a:rPr kumimoji="0" lang="km-KH" altLang="en-US" sz="14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 ដើម្បីឱ្យរូបភាពរីកធំតិចៗនៅពេល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Hover</a:t>
            </a:r>
            <a:r>
              <a:rPr kumimoji="0" lang="km-KH" altLang="en-US" sz="14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។</a:t>
            </a:r>
            <a:endParaRPr lang="en-US" altLang="en-US" sz="1400" b="1" i="0" u="none" strike="noStrike" cap="none" normalizeH="0" baseline="0" dirty="0">
              <a:ln>
                <a:noFill/>
              </a:ln>
              <a:effectLst/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km-KH" altLang="en-US" sz="1400" b="1" dirty="0"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Price Styling:</a:t>
            </a:r>
            <a:r>
              <a:rPr kumimoji="0" lang="km-KH" altLang="en-US" sz="14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 ការប្រើពណ៌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text-gray-700</a:t>
            </a:r>
            <a:r>
              <a:rPr kumimoji="0" lang="km-KH" altLang="en-US" sz="14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 ដើម្បីឱ្យតម្លៃផលិតផលមើលទៅមានលក្ខណៈសាមញ្ញ និងថ្លៃថ្នូរ។</a:t>
            </a:r>
            <a:endParaRPr lang="en-US" altLang="en-US" sz="1400" b="1" i="0" u="none" strike="noStrike" cap="none" normalizeH="0" baseline="0" dirty="0">
              <a:ln>
                <a:noFill/>
              </a:ln>
              <a:effectLst/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km-KH" altLang="en-US" sz="1400" b="1" dirty="0"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Call to Action (CTA):</a:t>
            </a:r>
            <a:r>
              <a:rPr kumimoji="0" lang="km-KH" altLang="en-US" sz="14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 ប៊ូតុង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"ADD TO BAG" </a:t>
            </a:r>
            <a:r>
              <a:rPr kumimoji="0" lang="km-KH" altLang="en-US" sz="14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ប្រើពណ៌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pink-500</a:t>
            </a:r>
            <a:r>
              <a:rPr kumimoji="0" lang="km-KH" altLang="en-US" sz="14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 និងមាន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hover:bg-pink-500</a:t>
            </a:r>
            <a:r>
              <a:rPr kumimoji="0" lang="km-KH" altLang="en-US" sz="14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 ដែលប្តូរពណ៌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Background</a:t>
            </a:r>
            <a:endParaRPr lang="en-US" altLang="en-US" sz="1400" b="1" dirty="0"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         </a:t>
            </a: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          </a:t>
            </a:r>
            <a:r>
              <a:rPr kumimoji="0" lang="km-KH" altLang="en-US" sz="14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នៅពេលយក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Mouse </a:t>
            </a:r>
            <a:r>
              <a:rPr kumimoji="0" lang="km-KH" altLang="en-US" sz="14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ទៅដាក់ពីលើ ដើម្បីទាក់ទាញអ្នកទិញ។</a:t>
            </a:r>
            <a:endParaRPr lang="en-US" altLang="en-US" sz="1400" b="1" i="0" u="none" strike="noStrike" cap="none" normalizeH="0" baseline="0" dirty="0">
              <a:ln>
                <a:noFill/>
              </a:ln>
              <a:effectLst/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99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B2E2E-77C1-CE5F-9EFB-16FA8DE818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794" y="2172"/>
            <a:ext cx="5669097" cy="1717830"/>
          </a:xfrm>
        </p:spPr>
        <p:txBody>
          <a:bodyPr/>
          <a:lstStyle/>
          <a:p>
            <a:r>
              <a:rPr lang="km-KH" sz="2800" u="sng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1</a:t>
            </a:r>
            <a:r>
              <a:rPr lang="en-US" sz="2800" u="sng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2</a:t>
            </a:r>
            <a:r>
              <a:rPr lang="km-KH" sz="2800" u="sng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.មុខងារម៉ឺនុយលើទូរស័ព្ទ (</a:t>
            </a:r>
            <a:r>
              <a:rPr lang="en-US" sz="2800" u="sng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Mobile Menu Logic)</a:t>
            </a:r>
            <a:br>
              <a:rPr lang="en-US" sz="2800" u="sng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</a:br>
            <a:endParaRPr lang="en-US" sz="2800" u="sng" dirty="0">
              <a:solidFill>
                <a:srgbClr val="000000"/>
              </a:solidFill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CEEFB4-EA9B-B66D-0261-A3C5E4FFB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358" y="0"/>
            <a:ext cx="6340643" cy="3209452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1BD3A888-102C-B157-01C4-F7DBD47E2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381" y="3451980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/>
              <a:buChar char="q"/>
              <a:tabLst/>
            </a:pPr>
            <a:r>
              <a:rPr kumimoji="0" lang="km-KH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ការប្រើប្រាស់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JavaScript </a:t>
            </a:r>
            <a:r>
              <a:rPr kumimoji="0" lang="km-KH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ដើម្បីបញ្ជាប៊ូតុងបើក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/</a:t>
            </a:r>
            <a:r>
              <a:rPr kumimoji="0" lang="km-KH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បិទ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Menu </a:t>
            </a:r>
            <a:r>
              <a:rPr kumimoji="0" lang="km-KH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លើ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Mobile</a:t>
            </a:r>
            <a:r>
              <a:rPr kumimoji="0" lang="km-KH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។</a:t>
            </a:r>
            <a:endParaRPr lang="en-US" altLang="en-US" sz="18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C4D8A6F-89F2-4C75-BDD3-2FA05B917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866" y="4173212"/>
            <a:ext cx="121920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m-KH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ការប្រើ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document.getElementById</a:t>
            </a:r>
            <a:r>
              <a:rPr kumimoji="0" lang="km-KH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 ដើម្បីចាប់យក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Element </a:t>
            </a:r>
            <a:r>
              <a:rPr kumimoji="0" lang="km-KH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នៃប៊ូតុង និងបញ្ជី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Menu</a:t>
            </a:r>
            <a:r>
              <a:rPr kumimoji="0" lang="km-KH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។</a:t>
            </a:r>
            <a:endParaRPr lang="en-US" altLang="en-US" sz="1600" b="1" i="0" u="none" strike="noStrike" cap="none" normalizeH="0" baseline="0" dirty="0">
              <a:ln>
                <a:noFill/>
              </a:ln>
              <a:effectLst/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km-KH" altLang="en-US" sz="1600" b="1" dirty="0"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Event Listener:</a:t>
            </a:r>
            <a:r>
              <a:rPr kumimoji="0" lang="km-KH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 កូដនេះរង់ចាំការចុច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('click') </a:t>
            </a:r>
            <a:r>
              <a:rPr kumimoji="0" lang="km-KH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ពីអ្នកប្រើប្រាស់។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km-KH" altLang="en-US" sz="1600" b="1" dirty="0"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Toggle Function:</a:t>
            </a:r>
            <a:r>
              <a:rPr kumimoji="0" lang="km-KH" altLang="en-US" sz="16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 ការប្រើ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classList.toggle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('hidden')</a:t>
            </a:r>
            <a:r>
              <a:rPr kumimoji="0" lang="km-KH" altLang="en-US" sz="16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 គឺជាវិធីសាស្ត្រដ៏មានប្រសិទ្ធភាពក្នុងការបង្ហាញ </a:t>
            </a:r>
            <a:endParaRPr lang="en-US" altLang="en-US" sz="1600" b="1" dirty="0"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km-KH" altLang="en-US" sz="16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  </a:t>
            </a:r>
            <a:endParaRPr lang="en-US" altLang="en-US" sz="1600" b="1" dirty="0"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km-KH" altLang="en-US" sz="1600" b="1" dirty="0">
                <a:latin typeface="!Khmer OS Battambang" panose="02000500000000020004" pitchFamily="2" charset="0"/>
                <a:cs typeface="!Khmer OS Battambang" panose="02000500000000020004" pitchFamily="2" charset="0"/>
              </a:rPr>
              <a:t>       </a:t>
            </a:r>
            <a:r>
              <a:rPr kumimoji="0" lang="km-KH" altLang="en-US" sz="16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ឬលាក់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Menu </a:t>
            </a:r>
            <a:r>
              <a:rPr kumimoji="0" lang="km-KH" altLang="en-US" sz="1600" b="1" i="0" u="none" strike="noStrike" cap="none" normalizeH="0" baseline="0" dirty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ដោយមិនចាំបាច់សរសេរកូដវែង។</a:t>
            </a:r>
            <a:endParaRPr lang="en-US" altLang="en-US" sz="1600" b="1" i="0" u="none" strike="noStrike" cap="none" normalizeH="0" baseline="0" dirty="0">
              <a:ln>
                <a:noFill/>
              </a:ln>
              <a:effectLst/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528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5F958-5262-A702-6337-1A30099BA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0037"/>
            <a:ext cx="12192000" cy="605244"/>
          </a:xfrm>
        </p:spPr>
        <p:txBody>
          <a:bodyPr/>
          <a:lstStyle/>
          <a:p>
            <a:r>
              <a:rPr lang="km-KH" sz="2800" u="sng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1</a:t>
            </a:r>
            <a:r>
              <a:rPr lang="en-US" sz="2800" u="sng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3</a:t>
            </a:r>
            <a:r>
              <a:rPr lang="km-KH" sz="2800" u="sng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.បច្ចេកទេស </a:t>
            </a:r>
            <a:r>
              <a:rPr lang="en-US" sz="2800" u="sng" dirty="0">
                <a:solidFill>
                  <a:srgbClr val="0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Scroll Animation (Intersection Observer)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51551A8-8EDB-F4D9-249A-E9D95B466CA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417721" y="272716"/>
            <a:ext cx="11357183" cy="315628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D8DEE-B1E0-9F15-C735-FBFF232FAC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latin typeface="!Khmer OS Battambang" panose="02000500000000020004" pitchFamily="2" charset="0"/>
                <a:cs typeface="!Khmer OS Battambang" panose="02000500000000020004" pitchFamily="2" charset="0"/>
              </a:rPr>
              <a:pPr/>
              <a:t>14</a:t>
            </a:fld>
            <a:endParaRPr lang="en-US"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353BAB-1444-C823-48FC-02E8E59497A7}"/>
              </a:ext>
            </a:extLst>
          </p:cNvPr>
          <p:cNvSpPr txBox="1"/>
          <p:nvPr/>
        </p:nvSpPr>
        <p:spPr>
          <a:xfrm>
            <a:off x="864338" y="4492361"/>
            <a:ext cx="10034313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Wingdings"/>
              <a:buChar char="q"/>
            </a:pPr>
            <a:r>
              <a:rPr lang="km-KH" b="1" dirty="0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ការប្រើប្រាស់ </a:t>
            </a:r>
            <a:r>
              <a:rPr lang="en-US" b="1" dirty="0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Intersection Observer API </a:t>
            </a:r>
            <a:r>
              <a:rPr lang="km-KH" b="1" dirty="0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ដើម្បីបង្កើតចលនាពេល </a:t>
            </a:r>
            <a:r>
              <a:rPr lang="en-US" b="1" dirty="0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Scroll (Reveal on Scroll)</a:t>
            </a:r>
            <a:r>
              <a:rPr lang="km-KH" b="1" dirty="0">
                <a:solidFill>
                  <a:srgbClr val="C00000"/>
                </a:solidFill>
                <a:latin typeface="!Khmer OS Battambang" panose="02000500000000020004" pitchFamily="2" charset="0"/>
                <a:cs typeface="!Khmer OS Battambang" panose="02000500000000020004" pitchFamily="2" charset="0"/>
              </a:rPr>
              <a:t>។</a:t>
            </a:r>
            <a:endParaRPr lang="en-US" b="1" dirty="0">
              <a:solidFill>
                <a:srgbClr val="C00000"/>
              </a:solidFill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533CA3D-5BB8-CFFD-4A93-A9B08B298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8626" y="4984846"/>
            <a:ext cx="12192000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Dynamic Reveal:</a:t>
            </a:r>
            <a:r>
              <a:rPr kumimoji="0" lang="km-KH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 កូដនេះនឹងឆែកមើលគ្រប់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Element </a:t>
            </a:r>
            <a:r>
              <a:rPr kumimoji="0" lang="km-KH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ណាដែលមាន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Class .reveal</a:t>
            </a:r>
            <a:r>
              <a:rPr kumimoji="0" lang="km-KH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។</a:t>
            </a:r>
            <a:endParaRPr kumimoji="0" lang="en-US" altLang="en-US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km-KH" altLang="en-US" sz="1400" b="1"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Intersection Logic:</a:t>
            </a:r>
            <a:r>
              <a:rPr kumimoji="0" lang="km-KH" altLang="en-US" sz="1400" b="1" i="0" u="none" strike="noStrike" cap="none" normalizeH="0" baseline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 នៅពេលអ្នកប្រើ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Scroll </a:t>
            </a:r>
            <a:r>
              <a:rPr kumimoji="0" lang="km-KH" altLang="en-US" sz="1400" b="1" i="0" u="none" strike="noStrike" cap="none" normalizeH="0" baseline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ទៅដល់ចំណុចដែលកំណត់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(threshold: 0.15), </a:t>
            </a:r>
            <a:endParaRPr lang="en-US" altLang="en-US" sz="1400" b="1"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km-KH" altLang="en-US" sz="1400" b="1"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m-KH" altLang="en-US" sz="1400" b="1" i="0" u="none" strike="noStrike" cap="none" normalizeH="0" baseline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កូដនឹងថែម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Class 'active'</a:t>
            </a:r>
            <a:r>
              <a:rPr kumimoji="0" lang="km-KH" altLang="en-US" sz="1400" b="1" i="0" u="none" strike="noStrike" cap="none" normalizeH="0" baseline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 ទៅលើ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Element </a:t>
            </a:r>
            <a:r>
              <a:rPr kumimoji="0" lang="km-KH" altLang="en-US" sz="1400" b="1" i="0" u="none" strike="noStrike" cap="none" normalizeH="0" baseline="0">
                <a:ln>
                  <a:noFill/>
                </a:ln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នោះដើម្បីឱ្យវាបង្ហាញចលនាឡើងមក។</a:t>
            </a:r>
            <a:endParaRPr lang="en-US" altLang="en-US" sz="1400" b="1" i="0" u="none" strike="noStrike" cap="none" normalizeH="0" baseline="0">
              <a:ln>
                <a:noFill/>
              </a:ln>
              <a:effectLst/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km-KH" altLang="en-US" sz="1400" b="1"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Performance:</a:t>
            </a:r>
            <a:r>
              <a:rPr kumimoji="0" lang="km-KH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 វិធីនេះជួយឱ្យ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Website </a:t>
            </a:r>
            <a:r>
              <a:rPr kumimoji="0" lang="km-KH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ដើរលឿនជាងការប្រើ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Scroll Event </a:t>
            </a:r>
            <a:r>
              <a:rPr kumimoji="0" lang="km-KH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ធម្មតា ព្រោះវាប្រើប្រាស់ធនធាន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Browser </a:t>
            </a:r>
            <a:r>
              <a:rPr kumimoji="0" lang="km-KH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!Khmer OS Battambang" panose="02000500000000020004" pitchFamily="2" charset="0"/>
                <a:cs typeface="!Khmer OS Battambang" panose="02000500000000020004" pitchFamily="2" charset="0"/>
              </a:rPr>
              <a:t>តិច។</a:t>
            </a:r>
            <a:endParaRPr kumimoji="0" lang="en-US" altLang="en-US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!Khmer OS Battambang" panose="02000500000000020004" pitchFamily="2" charset="0"/>
              <a:cs typeface="!Khmer OS Battambang" panose="02000500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072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2032AF-C6DC-5ABC-B800-61D7EAF601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46420" y="1350334"/>
            <a:ext cx="4920140" cy="4055103"/>
          </a:xfrm>
        </p:spPr>
      </p:pic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719FA4-954C-4FA8-82CB-206659C3B826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Present Web Design f1-12</Template>
  <TotalTime>178</TotalTime>
  <Words>1139</Words>
  <Application>Microsoft Office PowerPoint</Application>
  <PresentationFormat>Widescreen</PresentationFormat>
  <Paragraphs>99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!Khmer OS Battambang</vt:lpstr>
      <vt:lpstr>Arial</vt:lpstr>
      <vt:lpstr>Arial Black</vt:lpstr>
      <vt:lpstr>Calibri</vt:lpstr>
      <vt:lpstr>Sabon Next LT</vt:lpstr>
      <vt:lpstr>Times New Roman</vt:lpstr>
      <vt:lpstr>Wingdings</vt:lpstr>
      <vt:lpstr>Custom</vt:lpstr>
      <vt:lpstr>Web design </vt:lpstr>
      <vt:lpstr>ខ្លឹមសារ៖ បង្ហាញពីការកំណត់ Metadata និងការភ្ជាប់បណ្ណាល័យក្រៅ (External Libraries)។</vt:lpstr>
      <vt:lpstr>Overcoming nervousness</vt:lpstr>
      <vt:lpstr>3.បញ្ជីមុខងារចម្បង (Navigation Links)</vt:lpstr>
      <vt:lpstr>4.ផ្នែកសញ្ញារូបតំណាង (Action Icons)  </vt:lpstr>
      <vt:lpstr>5.ម៉ឺនុយសម្រាប់ទូរស័ព្ទ (Mobile Menu Button)</vt:lpstr>
      <vt:lpstr>PowerPoint Presentation</vt:lpstr>
      <vt:lpstr>7.ផ្នែកផលិតផលថ្មី (New Products Display) </vt:lpstr>
      <vt:lpstr>8.ការរៀបចំ Layout បញ្ជីប្រភេទផលិតផល (Category Section)</vt:lpstr>
      <vt:lpstr>9.Category Card - Face</vt:lpstr>
      <vt:lpstr>10.ផ្នែកផលិតផលកំពុងពេញនិយម (Trending Products Section)</vt:lpstr>
      <vt:lpstr>11.ការរៀបចំកាតផលិតផល (Product Card Detail)</vt:lpstr>
      <vt:lpstr>12.មុខងារម៉ឺនុយលើទូរស័ព្ទ (Mobile Menu Logic) </vt:lpstr>
      <vt:lpstr>13.បច្ចេកទេស Scroll Animation (Intersection Observer)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Touch Sreynoch</dc:creator>
  <cp:lastModifiedBy>Nimo ‎</cp:lastModifiedBy>
  <cp:revision>42</cp:revision>
  <dcterms:created xsi:type="dcterms:W3CDTF">2026-01-22T04:20:18Z</dcterms:created>
  <dcterms:modified xsi:type="dcterms:W3CDTF">2026-01-23T12:46:28Z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